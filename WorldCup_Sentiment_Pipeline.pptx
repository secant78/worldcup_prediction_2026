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Sentiment Score</c:v>
                </c:pt>
              </c:strCache>
            </c:strRef>
          </c:tx>
          <c:spPr>
            <a:solidFill>
              <a:srgbClr val="0D9488"/>
            </a:solidFill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0'</c:v>
                  </c:pt>
                  <c:pt idx="1">
                    <c:v>15'</c:v>
                  </c:pt>
                  <c:pt idx="2">
                    <c:v>30'</c:v>
                  </c:pt>
                  <c:pt idx="3">
                    <c:v>45'</c:v>
                  </c:pt>
                  <c:pt idx="4">
                    <c:v>HT</c:v>
                  </c:pt>
                  <c:pt idx="5">
                    <c:v>60'</c:v>
                  </c:pt>
                  <c:pt idx="6">
                    <c:v>75'</c:v>
                  </c:pt>
                  <c:pt idx="7">
                    <c:v>90'</c:v>
                  </c:pt>
                  <c:pt idx="8">
                    <c:v>FT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0.62</c:v>
                </c:pt>
                <c:pt idx="1">
                  <c:v>0.58</c:v>
                </c:pt>
                <c:pt idx="2">
                  <c:v>0.45</c:v>
                </c:pt>
                <c:pt idx="3">
                  <c:v>0.3</c:v>
                </c:pt>
                <c:pt idx="4">
                  <c:v>0.5</c:v>
                </c:pt>
                <c:pt idx="5">
                  <c:v>0.55</c:v>
                </c:pt>
                <c:pt idx="6">
                  <c:v>0.72</c:v>
                </c:pt>
                <c:pt idx="7">
                  <c:v>0.85</c:v>
                </c:pt>
                <c:pt idx="8">
                  <c:v>0.9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CUP 2026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&amp; Hype Tracker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NLP-driven pipeline capturing real-time public reaction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every goal, red card, and penalty shootout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2011680" cy="4572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023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Cancino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billions react in real time?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4480" y="19659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1031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651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5B+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31520" y="3246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viewers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for 2026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0" y="173736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97680" y="19659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1031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651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26M+</a:t>
            </a:r>
            <a:endParaRPr lang="en-US" sz="3600" dirty="0"/>
          </a:p>
        </p:txBody>
      </p:sp>
      <p:sp>
        <p:nvSpPr>
          <p:cNvPr id="13" name="Text 9"/>
          <p:cNvSpPr/>
          <p:nvPr/>
        </p:nvSpPr>
        <p:spPr>
          <a:xfrm>
            <a:off x="3474720" y="3246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tweets per match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2022 final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737360"/>
            <a:ext cx="2468880" cy="2377440"/>
          </a:xfrm>
          <a:prstGeom prst="roundRect">
            <a:avLst>
              <a:gd name="adj" fmla="val 4615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40880" y="19659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10312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6517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~2s</a:t>
            </a:r>
            <a:endParaRPr lang="en-US" sz="3600" dirty="0"/>
          </a:p>
        </p:txBody>
      </p:sp>
      <p:sp>
        <p:nvSpPr>
          <p:cNvPr id="18" name="Text 13"/>
          <p:cNvSpPr/>
          <p:nvPr/>
        </p:nvSpPr>
        <p:spPr>
          <a:xfrm>
            <a:off x="6217920" y="3246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shift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red card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1554480" cy="20116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880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65760" y="3246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/ Twitter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920240" y="283464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03120" y="1828800"/>
            <a:ext cx="1554480" cy="20116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0320" y="2057400"/>
            <a:ext cx="640080" cy="640080"/>
          </a:xfrm>
          <a:prstGeom prst="ellipse">
            <a:avLst/>
          </a:prstGeom>
          <a:solidFill>
            <a:srgbClr val="E07A2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21945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03120" y="2880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103120" y="3246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0" y="283464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840480" y="1828800"/>
            <a:ext cx="1554480" cy="20116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297680" y="2057400"/>
            <a:ext cx="640080" cy="640080"/>
          </a:xfrm>
          <a:prstGeom prst="ellipse">
            <a:avLst/>
          </a:prstGeom>
          <a:solidFill>
            <a:srgbClr val="5B8DE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19456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40480" y="2880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840480" y="3246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NLP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394960" y="283464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577840" y="1828800"/>
            <a:ext cx="1554480" cy="20116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035040" y="2057400"/>
            <a:ext cx="640080" cy="640080"/>
          </a:xfrm>
          <a:prstGeom prst="ellipse">
            <a:avLst/>
          </a:prstGeom>
          <a:solidFill>
            <a:srgbClr val="3CB37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19456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577840" y="2880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577840" y="3246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7132320" y="2834640"/>
            <a:ext cx="18288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315200" y="1828800"/>
            <a:ext cx="1554480" cy="20116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72400" y="2057400"/>
            <a:ext cx="640080" cy="640080"/>
          </a:xfrm>
          <a:prstGeom prst="ellipse">
            <a:avLst/>
          </a:prstGeom>
          <a:solidFill>
            <a:srgbClr val="E05694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219456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315200" y="28803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7315200" y="3246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infrastructure runs via Docker Compose on a single machine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Social Media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65960"/>
            <a:ext cx="502920" cy="502920"/>
          </a:xfrm>
          <a:prstGeom prst="ellipse">
            <a:avLst/>
          </a:prstGeom>
          <a:solidFill>
            <a:srgbClr val="FF450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07568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965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(PRAW)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26517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r/soccer, r/worldcup, r/football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by World Cup keywords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submissions + comments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API tier available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73736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0" y="1965960"/>
            <a:ext cx="502920" cy="502920"/>
          </a:xfrm>
          <a:prstGeom prst="ellipse">
            <a:avLst/>
          </a:prstGeom>
          <a:solidFill>
            <a:srgbClr val="1DA1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207568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69280" y="1965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/ Twitter (Tweepy)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029200" y="26517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stream on #WorldCup2026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tweet ingestion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 and keyword rules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paid API access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BROKER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Kafka?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producers from consumers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backpressure during match surges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persist if consumer crashes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consumers without changing producers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20640" y="164592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0" y="18288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Topics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228600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0" y="2286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reddit-posts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77840" y="310896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31089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A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twitter-posts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Transformers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20240"/>
            <a:ext cx="457200" cy="457200"/>
          </a:xfrm>
          <a:prstGeom prst="ellipse">
            <a:avLst/>
          </a:prstGeom>
          <a:solidFill>
            <a:srgbClr val="5B8DE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0299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246888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twitter-roberta-base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124M tweets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Positive / Negative / Neutral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(0.0 - 1.0)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73736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0" y="1920240"/>
            <a:ext cx="457200" cy="457200"/>
          </a:xfrm>
          <a:prstGeom prst="ellipse">
            <a:avLst/>
          </a:prstGeom>
          <a:solidFill>
            <a:srgbClr val="5B8DE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20299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29200" y="246888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bert-base-NER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player names (PER)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team/org names (ORG)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Deduplicates entities per post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VISUALIZATION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+ Kibana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20240"/>
            <a:ext cx="457200" cy="457200"/>
          </a:xfrm>
          <a:prstGeom prst="ellipse">
            <a:avLst/>
          </a:prstGeom>
          <a:solidFill>
            <a:srgbClr val="3CB37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0299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8.x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24688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on post content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fields for fast filtering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entity mapping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histogram aggregations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indexing (50-doc batches)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73736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029200" y="1920240"/>
            <a:ext cx="457200" cy="457200"/>
          </a:xfrm>
          <a:prstGeom prst="ellipse">
            <a:avLst/>
          </a:prstGeom>
          <a:solidFill>
            <a:srgbClr val="E0569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202996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 Dashboards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29200" y="246888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timeline (15-min buckets)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volume bar chart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distribution pie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comparison (Reddit vs Twitter)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dashboard export included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Correlating Sentiment with Match Events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645920"/>
            <a:ext cx="2926080" cy="2926080"/>
          </a:xfrm>
          <a:prstGeom prst="roundRect">
            <a:avLst>
              <a:gd name="adj" fmla="val 3125"/>
            </a:avLst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6072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Events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0" y="219456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 Red Card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Sentiment drops to 0.30 (-2.1σ)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75' Equalizer Goal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Sentiment surges to 0.85 (+1.8σ)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90' Penalty Won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Volume spikes 4x baseline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Locally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3291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PRAW + Tweepy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 social media posts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 Kafka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Decouple &amp; buffer messages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HuggingFace Transformers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Sentiment + NER inference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Elasticsearch 8.x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Full-text indexing &amp; aggregation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Kibana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dashboards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Compose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One-command deployment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Track the Hype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docker-compose up -d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es_setup.py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producer_reddit.py &amp;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consumer.py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Cancino  |  World Cup Sentiment Tracker  |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Cup Sentiment &amp; Hype Tracker</dc:title>
  <dc:subject>PptxGenJS Presentation</dc:subject>
  <dc:creator>Sean Cancino</dc:creator>
  <cp:lastModifiedBy>Sean Cancino</cp:lastModifiedBy>
  <cp:revision>1</cp:revision>
  <dcterms:created xsi:type="dcterms:W3CDTF">2026-06-29T20:03:20Z</dcterms:created>
  <dcterms:modified xsi:type="dcterms:W3CDTF">2026-06-29T20:03:20Z</dcterms:modified>
</cp:coreProperties>
</file>